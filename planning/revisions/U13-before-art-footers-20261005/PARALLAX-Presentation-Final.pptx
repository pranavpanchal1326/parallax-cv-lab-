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0:00-0:55.</a:t>
            </a:r>
          </a:p>
          <a:p/>
          <a:p>
            <a:r>
              <a:t>Introduce the project as a physical and digital laboratory proposal. The assignment supplies seventy square metres. Our assumed P4-D envelope is ten by seven metres. Explain that the room render is an authored model and the interactive app uses local example records. The demonstration shows a student's evidence journey, equipment recovery, sustainability and local guide AI. Distinguish this proposal from an installed or certified lab. Source: assignment text in apps/lab-web/evidence/u09-audit/assignment-text.txt and spatial/lab_geometry.json.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0:55-1:50.</a:t>
            </a:r>
          </a:p>
          <a:p/>
          <a:p>
            <a:r>
              <a:t>Explain the concrete failure consequences. A booked camera bench can still lack a light or calibration target. A plausible graph can omit the reference that produced it. A saved draft can be mistaken for confirmed submission. These are prospective problems and authored scenarios. We have not measured local frequency. Our response preserves complete dependencies and distinct task states. Source: research/U02_RESEARCH_SYNTHESIS.md, research/U02_TRACEABILITY.csv and research/U02_HYPOTHESIS_REVIEW.md.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1:50-2:45.</a:t>
            </a:r>
          </a:p>
          <a:p/>
          <a:p>
            <a:r>
              <a:t>State the research method plainly. The user excluded primary participant studies. We reviewed fourteen public sources covering education, provenance, operating policies, access, ventilation, sustainability and AI. The source register records reading depth and partial access. Personas remain hypothetical role lenses. Sources such as Holmes, Wieman and Bonn support comparison and reflection as a design rationale, without transferring an effect size to PARALLAX. Source: research/U02_SOURCE_REGISTER.md, S01 https://arxiv.org/abs/1508.04870, and research/U02_DESK_RESEARCH_METHOD.md.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2:45-3:40.</a:t>
            </a:r>
          </a:p>
          <a:p/>
          <a:p>
            <a:r>
              <a:t>Walk through the intended student journey and point out handoffs. Preparation acknowledgement does not replace institutional training. Reservation does not prove the room conditions are suitable. Capture freezes context. Reflection remains the student's own writing. A receipt confirms the local submission state and portable items require return. Faculty and technicians receive separate task views. Visitors receive a limited public projection. Source: research/U02_RESEARCH_SYNTHESIS.md, prototype/fixtures.json and apps/lab-web/PARITY.md.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3:40-4:35.</a:t>
            </a:r>
          </a:p>
          <a:p/>
          <a:p>
            <a:r>
              <a:t>Show the booking board and identify the whole-kit conflict. An understandable refusal is part of the designed path. Explain that fifteen boards include the twelve original layouts and three supplementary faculty or asset boards. An annotation is structural evidence, while connected implementation requires its own proof. The local wireframe page exposes editable data, generator and SVGs. Source: design/wireframes/boards.json, research/U02_DESIGN_DECISIONS.md and planning/U02_DELIVERY_RECORD.md.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4:35-5:30.</a:t>
            </a:r>
          </a:p>
          <a:p/>
          <a:p>
            <a:r>
              <a:t>Describe computing, storage, capture, circulation, faculty, collaboration and signal work. The source uses metres from the north-west inner wall. The geometric validation checks furniture fit and the accessible approach. These checks do not establish escape capacity, installed services or actual access. Teaching capacity and rotation require occupied-room review. The handoff includes Blender and GLB sources. Source: spatial/lab_geometry.json and spatial/exports/upgrade-validation.json. Retained planning rules are conceptual inputs, not a new compliance determination.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5:30-6:25.</a:t>
            </a:r>
          </a:p>
          <a:p/>
          <a:p>
            <a:r>
              <a:t>Open the dashboard if the live preview is available. Show resource state, active sessions and source status. Select a recent example, then a delayed example in the environment desk. Emphasize that changing the demonstration does not rewrite a retained capture. Source timestamps and quality are visible. A free asset does not certify room conditions. Source: planning/U04_DELIVERY_RECORD.md and apps/lab-web/src/domain/observations.ts. The screenshot was captured on the isolated validation origin.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Segment 6:25-7:20.</a:t>
            </a:r>
          </a:p>
          <a:p/>
          <a:p>
            <a:r>
              <a:t>Show the period ledger. A gap keeps the total unknown rather than treating missing data as zero. Standby previews are upper bounds based on declared loads, without switches or measured savings. The five specifications cover lighting, ventilation, smart power, repairable furniture and traceable materials. Each names an owner and acceptance evidence. One assumed window cannot establish airflow. Sources: planning/U04_SUSTAINABILITY_SPECIFICATION.md, S09 https://www.hse.gov.uk/ventilation/using-co2-monitors.htm and S10 in research/U02_SOURCE_REGISTER.md.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 Segment 7:20-8:50.</a:t>
            </a:r>
          </a:p>
          <a:p/>
          <a:p>
            <a:r>
              <a:t>LIVE DEMONSTRATION: open E01 rehearsal. Enter a prediction, select three hertz and run. Identify the four inclusive samples and the alias that passes through them. Compare with twenty hertz while holding the reference fixed. Ask what the sample points alone cannot establish. Mention the four-hertz zero-phase boundary explicitly if asked: its values are numerically zero and remain ambiguous. These are computed teaching samples. Rehearsal is separate from the primary session. Source: prototype/fixtures.json, apps/lab-web/src/domain/rehearsal.ts and planning/U05_DELIVERY_RECORD.md. If live execution is unavailable, use the matching static demo frames.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 seconds. Segment 8:50-10:05.</a:t>
            </a:r>
          </a:p>
          <a:p/>
          <a:p>
            <a:r>
              <a:t>LIVE DEMONSTRATION: open E06 lighting rehearsal, predict the effect of side light and reveal the authored condition. Identify the visible change and explain a limit. This is an illustration rather than detector output. Then show the retained-condition comparison path. The designer walkthrough checks whether difference, uncertainty and next action are visible. No participant comprehension or camera accuracy is claimed. Source: apps/lab-web/src/features/Conditions.tsx, apps/lab-web/src/features/Rehearsal.tsx and planning/U05_DELIVERY_RECORD.md. A narrow capture illustrates the available mobile-equivalent path.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 Segment 10:05-11:35.</a:t>
            </a:r>
          </a:p>
          <a:p/>
          <a:p>
            <a:r>
              <a:t>LIVE DEMONSTRATION: open the ten-stage fault walkthrough. Advance through restriction and repair into interrupted verification. Point out that starting repair or reporting a fault alone does not authorize restoration. Early release is refused. Complete the named verification requirements and inspect the public projection. The sandbox remains separate from the primary student activity. Source: apps/lab-web/src/domain/faultStory.ts, apps/lab-web/tests/u05.test.tsx and apps/lab-web/evidence/u09-audit/fault-frames.json. If the interactive app fails, the static frame player preserves this sequence.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 seconds. Segment 11:35-12:50.</a:t>
            </a:r>
          </a:p>
          <a:p/>
          <a:p>
            <a:r>
              <a:t>LIVE DEMONSTRATION: ask why three-hertz samples can show a one-hertz alias. Show the returned E01 revision 01 / E01-alias citation and the student prompt. The model selects section IDs. Reviewed source text supplies the answer wording. It receives no browser evidence, grades or live equipment state, and it has no action tools. The earlier evaluation passed thirty-nine authored cases with twenty-seven real local calls. This final check includes another real answer. It does not establish general model relevance or learning. Source: planning/U06_DELIVERY_RECORD.md, apps/lab-server/README.md and apps/lab-web/evidence/u09-final/assistant-answer.txt.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 Segment 12:50-13:50.</a:t>
            </a:r>
          </a:p>
          <a:p/>
          <a:p>
            <a:r>
              <a:t>Show the independent operations desk and its saved request lookup. Mention both lights in the complete C1 manifest. Explain that a draft cannot overwrite a slot taken before its revalidation. Versioned policy can pause a new method while retaining an existing session's evidence. These are local exercise rules. A shared authenticated database, cross-device concurrency and institutional approval remain separate integrations. Source: planning/U07_DELIVERY_RECORD.md and apps/lab-web/tests/u07.test.tsx. Public projection excludes private request actors and internal details.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 seconds. Segment 13:50-14:30.</a:t>
            </a:r>
          </a:p>
          <a:p/>
          <a:p>
            <a:r>
              <a:t>Explain the final refinement: the typed lookup now uses sixteen-pixel text and a forty-four-pixel control. Route changes discard stale QA results. Generated scene copies own cleanup without altering scientific calculations. Thirty-six local two-frame feedback samples stayed below twenty-six milliseconds. These are scoped technical observations. Spoken screen-reader use, actual zoom, second-browser/device checks and native download confirmation remain open external checks. Source: planning/U09_DELIVERY_RECORD.md and apps/lab-web/evidence/u09-final. Avoid presenting an automated scan as accessibility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 Segment 14:30-15:00.</a:t>
            </a:r>
          </a:p>
          <a:p/>
          <a:p>
            <a:r>
              <a:t>Open submission/index.html and identify the live app, report, Figma, source and backup demo links. Close with the supported contribution: an inspectable physical/digital proposal and preserved evidence/recovery boundaries. The team must add truthful names and contributions before institutional submission. The deck schedule totals fifteen minutes. An automated playback is a technical timing check, while a human presenter must rehearse actual delivery. Source: submission/README.md, submission/EVIDENCE_INDEX.md and submission/EXTERNAL_CHECKS.md.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PROPOSAL   ·   01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0:00 – 0:55</a:t>
            </a:r>
          </a:p>
        </p:txBody>
      </p:sp>
      <p:sp>
        <p:nvSpPr>
          <p:cNvPr id="9" name="TextBox 8"/>
          <p:cNvSpPr txBox="1"/>
          <p:nvPr/>
        </p:nvSpPr>
        <p:spPr>
          <a:xfrm>
            <a:off x="640080" y="1143000"/>
            <a:ext cx="5120640" cy="274320"/>
          </a:xfrm>
          <a:prstGeom prst="rect">
            <a:avLst/>
          </a:prstGeom>
          <a:noFill/>
        </p:spPr>
        <p:txBody>
          <a:bodyPr wrap="square" lIns="0" rIns="0" tIns="0" bIns="0" anchor="t">
            <a:spAutoFit/>
          </a:bodyPr>
          <a:lstStyle/>
          <a:p>
            <a:r>
              <a:rPr sz="1000" b="0" i="0" spc="120">
                <a:solidFill>
                  <a:srgbClr val="3346D3"/>
                </a:solidFill>
                <a:latin typeface="Consolas"/>
              </a:rPr>
              <a:t>FINAL YEAR PROJECT   ·   UI/UX DESIGN PROPOSAL</a:t>
            </a:r>
          </a:p>
        </p:txBody>
      </p:sp>
      <p:sp>
        <p:nvSpPr>
          <p:cNvPr id="10" name="TextBox 9"/>
          <p:cNvSpPr txBox="1"/>
          <p:nvPr/>
        </p:nvSpPr>
        <p:spPr>
          <a:xfrm>
            <a:off x="640080" y="1554480"/>
            <a:ext cx="5120640" cy="1188720"/>
          </a:xfrm>
          <a:prstGeom prst="rect">
            <a:avLst/>
          </a:prstGeom>
          <a:noFill/>
        </p:spPr>
        <p:txBody>
          <a:bodyPr wrap="square" lIns="0" rIns="0" tIns="0" bIns="0" anchor="t">
            <a:spAutoFit/>
          </a:bodyPr>
          <a:lstStyle/>
          <a:p>
            <a:pPr>
              <a:lnSpc>
                <a:spcPct val="104000"/>
              </a:lnSpc>
            </a:pPr>
            <a:r>
              <a:rPr sz="6600" b="0" i="0">
                <a:solidFill>
                  <a:srgbClr val="20232B"/>
                </a:solidFill>
                <a:latin typeface="Georgia"/>
              </a:rPr>
              <a:t>PARALLAX</a:t>
            </a:r>
          </a:p>
        </p:txBody>
      </p:sp>
      <p:sp>
        <p:nvSpPr>
          <p:cNvPr id="11" name="TextBox 10"/>
          <p:cNvSpPr txBox="1"/>
          <p:nvPr/>
        </p:nvSpPr>
        <p:spPr>
          <a:xfrm>
            <a:off x="640080" y="2880360"/>
            <a:ext cx="4754880" cy="914400"/>
          </a:xfrm>
          <a:prstGeom prst="rect">
            <a:avLst/>
          </a:prstGeom>
          <a:noFill/>
        </p:spPr>
        <p:txBody>
          <a:bodyPr wrap="square" lIns="0" rIns="0" tIns="0" bIns="0" anchor="t">
            <a:spAutoFit/>
          </a:bodyPr>
          <a:lstStyle/>
          <a:p>
            <a:pPr>
              <a:lnSpc>
                <a:spcPct val="108000"/>
              </a:lnSpc>
            </a:pPr>
            <a:r>
              <a:rPr sz="2500" b="0" i="1">
                <a:solidFill>
                  <a:srgbClr val="3346D3"/>
                </a:solidFill>
                <a:latin typeface="Georgia"/>
              </a:rPr>
              <a:t>A 70 m² Signal &amp; Computer Vision Lab</a:t>
            </a:r>
          </a:p>
        </p:txBody>
      </p:sp>
      <p:cxnSp>
        <p:nvCxnSpPr>
          <p:cNvPr id="12" name="Connector 11"/>
          <p:cNvCxnSpPr/>
          <p:nvPr/>
        </p:nvCxnSpPr>
        <p:spPr>
          <a:xfrm>
            <a:off x="640080" y="4160520"/>
            <a:ext cx="475488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4315968"/>
            <a:ext cx="4572000" cy="822960"/>
          </a:xfrm>
          <a:prstGeom prst="rect">
            <a:avLst/>
          </a:prstGeom>
          <a:noFill/>
        </p:spPr>
        <p:txBody>
          <a:bodyPr wrap="square" lIns="0" rIns="0" tIns="0" bIns="0" anchor="t">
            <a:spAutoFit/>
          </a:bodyPr>
          <a:lstStyle/>
          <a:p>
            <a:pPr>
              <a:lnSpc>
                <a:spcPct val="120000"/>
              </a:lnSpc>
            </a:pPr>
            <a:r>
              <a:rPr sz="1600" b="0" i="0">
                <a:solidFill>
                  <a:srgbClr val="20232B"/>
                </a:solidFill>
                <a:latin typeface="Arial"/>
              </a:rPr>
              <a:t>Physical planning and a runnable local UI/UX proposal</a:t>
            </a:r>
          </a:p>
        </p:txBody>
      </p:sp>
      <p:sp>
        <p:nvSpPr>
          <p:cNvPr id="14" name="Rectangle 13"/>
          <p:cNvSpPr/>
          <p:nvPr/>
        </p:nvSpPr>
        <p:spPr>
          <a:xfrm>
            <a:off x="5989320" y="1143000"/>
            <a:ext cx="556229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ARALLAX - Conceptual P4-D render. Not a photograph of an installed room."/>
          <p:cNvPicPr>
            <a:picLocks noChangeAspect="1"/>
          </p:cNvPicPr>
          <p:nvPr/>
        </p:nvPicPr>
        <p:blipFill>
          <a:blip r:embed="rId2"/>
          <a:stretch>
            <a:fillRect/>
          </a:stretch>
        </p:blipFill>
        <p:spPr>
          <a:xfrm>
            <a:off x="6099048" y="1551173"/>
            <a:ext cx="5342839" cy="3709933"/>
          </a:xfrm>
          <a:prstGeom prst="rect">
            <a:avLst/>
          </a:prstGeom>
        </p:spPr>
      </p:pic>
      <p:cxnSp>
        <p:nvCxnSpPr>
          <p:cNvPr id="16" name="Connector 15"/>
          <p:cNvCxnSpPr/>
          <p:nvPr/>
        </p:nvCxnSpPr>
        <p:spPr>
          <a:xfrm flipH="1">
            <a:off x="579729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989320"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579729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89320"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89320" y="5943600"/>
            <a:ext cx="5562295" cy="274320"/>
          </a:xfrm>
          <a:prstGeom prst="rect">
            <a:avLst/>
          </a:prstGeom>
          <a:noFill/>
        </p:spPr>
        <p:txBody>
          <a:bodyPr wrap="square" lIns="0" rIns="0" tIns="0" bIns="0" anchor="t">
            <a:spAutoFit/>
          </a:bodyPr>
          <a:lstStyle/>
          <a:p>
            <a:r>
              <a:rPr sz="900" b="0" i="0" spc="120">
                <a:solidFill>
                  <a:srgbClr val="3346D3"/>
                </a:solidFill>
                <a:latin typeface="Consolas"/>
              </a:rPr>
              <a:t>FIG. 01</a:t>
            </a:r>
            <a:r>
              <a:rPr sz="1000" b="0" i="0">
                <a:solidFill>
                  <a:srgbClr val="535B66"/>
                </a:solidFill>
                <a:latin typeface="Arial"/>
              </a:rPr>
              <a:t>   Conceptual P4-D render. Not a photograph of an installed room.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PROBLEM   ·   02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0:55 – 1:50</a:t>
            </a:r>
          </a:p>
        </p:txBody>
      </p:sp>
      <p:sp>
        <p:nvSpPr>
          <p:cNvPr id="9" name="TextBox 8"/>
          <p:cNvSpPr txBox="1"/>
          <p:nvPr/>
        </p:nvSpPr>
        <p:spPr>
          <a:xfrm>
            <a:off x="640080" y="1097280"/>
            <a:ext cx="7315200" cy="274320"/>
          </a:xfrm>
          <a:prstGeom prst="rect">
            <a:avLst/>
          </a:prstGeom>
          <a:noFill/>
        </p:spPr>
        <p:txBody>
          <a:bodyPr wrap="square" lIns="0" rIns="0" tIns="0" bIns="0" anchor="t">
            <a:spAutoFit/>
          </a:bodyPr>
          <a:lstStyle/>
          <a:p>
            <a:r>
              <a:rPr sz="1000" b="0" i="0" spc="120">
                <a:solidFill>
                  <a:srgbClr val="3346D3"/>
                </a:solidFill>
                <a:latin typeface="Consolas"/>
              </a:rPr>
              <a:t>02 — PROBLEM</a:t>
            </a:r>
          </a:p>
        </p:txBody>
      </p:sp>
      <p:sp>
        <p:nvSpPr>
          <p:cNvPr id="10" name="TextBox 9"/>
          <p:cNvSpPr txBox="1"/>
          <p:nvPr/>
        </p:nvSpPr>
        <p:spPr>
          <a:xfrm>
            <a:off x="640080" y="1463040"/>
            <a:ext cx="9692640" cy="1737360"/>
          </a:xfrm>
          <a:prstGeom prst="rect">
            <a:avLst/>
          </a:prstGeom>
          <a:noFill/>
        </p:spPr>
        <p:txBody>
          <a:bodyPr wrap="square" lIns="0" rIns="0" tIns="0" bIns="0" anchor="t">
            <a:spAutoFit/>
          </a:bodyPr>
          <a:lstStyle/>
          <a:p>
            <a:pPr>
              <a:lnSpc>
                <a:spcPct val="104000"/>
              </a:lnSpc>
            </a:pPr>
            <a:r>
              <a:rPr sz="4200" b="0" i="0">
                <a:solidFill>
                  <a:srgbClr val="20232B"/>
                </a:solidFill>
                <a:latin typeface="Georgia"/>
              </a:rPr>
              <a:t>A practical depends on more than </a:t>
            </a:r>
            <a:r>
              <a:rPr sz="4200" b="0" i="1">
                <a:solidFill>
                  <a:srgbClr val="3346D3"/>
                </a:solidFill>
                <a:latin typeface="Georgia"/>
              </a:rPr>
              <a:t>a free station</a:t>
            </a:r>
          </a:p>
        </p:txBody>
      </p:sp>
      <p:cxnSp>
        <p:nvCxnSpPr>
          <p:cNvPr id="11" name="Connector 10"/>
          <p:cNvCxnSpPr/>
          <p:nvPr/>
        </p:nvCxnSpPr>
        <p:spPr>
          <a:xfrm>
            <a:off x="640080" y="3657600"/>
            <a:ext cx="3362858"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822191"/>
            <a:ext cx="3362858" cy="731520"/>
          </a:xfrm>
          <a:prstGeom prst="rect">
            <a:avLst/>
          </a:prstGeom>
          <a:noFill/>
        </p:spPr>
        <p:txBody>
          <a:bodyPr wrap="square" lIns="0" rIns="0" tIns="0" bIns="0" anchor="t">
            <a:spAutoFit/>
          </a:bodyPr>
          <a:lstStyle/>
          <a:p>
            <a:r>
              <a:rPr sz="4000" b="0" i="1">
                <a:solidFill>
                  <a:srgbClr val="3346D3"/>
                </a:solidFill>
                <a:latin typeface="Georgia"/>
              </a:rPr>
              <a:t>01</a:t>
            </a:r>
          </a:p>
        </p:txBody>
      </p:sp>
      <p:sp>
        <p:nvSpPr>
          <p:cNvPr id="13" name="TextBox 12"/>
          <p:cNvSpPr txBox="1"/>
          <p:nvPr/>
        </p:nvSpPr>
        <p:spPr>
          <a:xfrm>
            <a:off x="640080" y="4663440"/>
            <a:ext cx="3179978" cy="1371600"/>
          </a:xfrm>
          <a:prstGeom prst="rect">
            <a:avLst/>
          </a:prstGeom>
          <a:noFill/>
        </p:spPr>
        <p:txBody>
          <a:bodyPr wrap="square" lIns="0" rIns="0" tIns="0" bIns="0" anchor="t">
            <a:spAutoFit/>
          </a:bodyPr>
          <a:lstStyle/>
          <a:p>
            <a:pPr>
              <a:lnSpc>
                <a:spcPct val="118000"/>
              </a:lnSpc>
            </a:pPr>
            <a:r>
              <a:rPr sz="1800" b="0" i="0">
                <a:solidFill>
                  <a:srgbClr val="20232B"/>
                </a:solidFill>
                <a:latin typeface="Arial"/>
              </a:rPr>
              <a:t>A complete kit must share one usable interval.</a:t>
            </a:r>
          </a:p>
        </p:txBody>
      </p:sp>
      <p:cxnSp>
        <p:nvCxnSpPr>
          <p:cNvPr id="14" name="Connector 13"/>
          <p:cNvCxnSpPr/>
          <p:nvPr/>
        </p:nvCxnSpPr>
        <p:spPr>
          <a:xfrm>
            <a:off x="4414418" y="3657600"/>
            <a:ext cx="3362858"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14418" y="3822191"/>
            <a:ext cx="3362858" cy="731520"/>
          </a:xfrm>
          <a:prstGeom prst="rect">
            <a:avLst/>
          </a:prstGeom>
          <a:noFill/>
        </p:spPr>
        <p:txBody>
          <a:bodyPr wrap="square" lIns="0" rIns="0" tIns="0" bIns="0" anchor="t">
            <a:spAutoFit/>
          </a:bodyPr>
          <a:lstStyle/>
          <a:p>
            <a:r>
              <a:rPr sz="4000" b="0" i="1">
                <a:solidFill>
                  <a:srgbClr val="3346D3"/>
                </a:solidFill>
                <a:latin typeface="Georgia"/>
              </a:rPr>
              <a:t>02</a:t>
            </a:r>
          </a:p>
        </p:txBody>
      </p:sp>
      <p:sp>
        <p:nvSpPr>
          <p:cNvPr id="16" name="TextBox 15"/>
          <p:cNvSpPr txBox="1"/>
          <p:nvPr/>
        </p:nvSpPr>
        <p:spPr>
          <a:xfrm>
            <a:off x="4414418" y="4663440"/>
            <a:ext cx="3179978" cy="1371600"/>
          </a:xfrm>
          <a:prstGeom prst="rect">
            <a:avLst/>
          </a:prstGeom>
          <a:noFill/>
        </p:spPr>
        <p:txBody>
          <a:bodyPr wrap="square" lIns="0" rIns="0" tIns="0" bIns="0" anchor="t">
            <a:spAutoFit/>
          </a:bodyPr>
          <a:lstStyle/>
          <a:p>
            <a:pPr>
              <a:lnSpc>
                <a:spcPct val="118000"/>
              </a:lnSpc>
            </a:pPr>
            <a:r>
              <a:rPr sz="1800" b="0" i="0">
                <a:solidFill>
                  <a:srgbClr val="20232B"/>
                </a:solidFill>
                <a:latin typeface="Arial"/>
              </a:rPr>
              <a:t>Evidence needs its method, source and settings.</a:t>
            </a:r>
          </a:p>
        </p:txBody>
      </p:sp>
      <p:cxnSp>
        <p:nvCxnSpPr>
          <p:cNvPr id="17" name="Connector 16"/>
          <p:cNvCxnSpPr/>
          <p:nvPr/>
        </p:nvCxnSpPr>
        <p:spPr>
          <a:xfrm>
            <a:off x="8188756" y="3657600"/>
            <a:ext cx="3362859"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88756" y="3822191"/>
            <a:ext cx="3362858" cy="731520"/>
          </a:xfrm>
          <a:prstGeom prst="rect">
            <a:avLst/>
          </a:prstGeom>
          <a:noFill/>
        </p:spPr>
        <p:txBody>
          <a:bodyPr wrap="square" lIns="0" rIns="0" tIns="0" bIns="0" anchor="t">
            <a:spAutoFit/>
          </a:bodyPr>
          <a:lstStyle/>
          <a:p>
            <a:r>
              <a:rPr sz="4000" b="0" i="1">
                <a:solidFill>
                  <a:srgbClr val="3346D3"/>
                </a:solidFill>
                <a:latin typeface="Georgia"/>
              </a:rPr>
              <a:t>03</a:t>
            </a:r>
          </a:p>
        </p:txBody>
      </p:sp>
      <p:sp>
        <p:nvSpPr>
          <p:cNvPr id="19" name="TextBox 18"/>
          <p:cNvSpPr txBox="1"/>
          <p:nvPr/>
        </p:nvSpPr>
        <p:spPr>
          <a:xfrm>
            <a:off x="8188756" y="4663440"/>
            <a:ext cx="3179978" cy="1371600"/>
          </a:xfrm>
          <a:prstGeom prst="rect">
            <a:avLst/>
          </a:prstGeom>
          <a:noFill/>
        </p:spPr>
        <p:txBody>
          <a:bodyPr wrap="square" lIns="0" rIns="0" tIns="0" bIns="0" anchor="t">
            <a:spAutoFit/>
          </a:bodyPr>
          <a:lstStyle/>
          <a:p>
            <a:pPr>
              <a:lnSpc>
                <a:spcPct val="118000"/>
              </a:lnSpc>
            </a:pPr>
            <a:r>
              <a:rPr sz="1800" b="0" i="0">
                <a:solidFill>
                  <a:srgbClr val="20232B"/>
                </a:solidFill>
                <a:latin typeface="Arial"/>
              </a:rPr>
              <a:t>Recovery needs a receipt and a responsible owner.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RESEARCH   ·   03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1:50 – 2:45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03 — RESEARCH</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1">
                <a:solidFill>
                  <a:srgbClr val="3346D3"/>
                </a:solidFill>
                <a:latin typeface="Georgia"/>
              </a:rPr>
              <a:t>Fourteen sources</a:t>
            </a:r>
            <a:r>
              <a:rPr sz="3100" b="0" i="0">
                <a:solidFill>
                  <a:srgbClr val="20232B"/>
                </a:solidFill>
                <a:latin typeface="Georgia"/>
              </a:rPr>
              <a:t> inform the design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Secondary research and design-artifact analysis</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Six role lenses and six evidence tensions</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Zero local participants, with limitations stated</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ourteen sources inform the design - Secondary-research page, desktop capture. Zero local participants."/>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03</a:t>
            </a:r>
            <a:r>
              <a:rPr sz="1000" b="0" i="0">
                <a:solidFill>
                  <a:srgbClr val="535B66"/>
                </a:solidFill>
                <a:latin typeface="Arial"/>
              </a:rPr>
              <a:t>   Secondary-research page, desktop capture. Zero local participants.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JOURNEY   ·   04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2:45 – 3:40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04 — JOURNEY</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The journey keeps </a:t>
            </a:r>
            <a:r>
              <a:rPr sz="3100" b="0" i="1">
                <a:solidFill>
                  <a:srgbClr val="3346D3"/>
                </a:solidFill>
                <a:latin typeface="Georgia"/>
              </a:rPr>
              <a:t>ownership visible</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Prepare and reserve the complete kit</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Arrive, record and compare retained evidence</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Reflect, confirm the receipt and close the session</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he journey keeps ownership visible - Student-eye render of the conceptual P4-D model."/>
          <p:cNvPicPr>
            <a:picLocks noChangeAspect="1"/>
          </p:cNvPicPr>
          <p:nvPr/>
        </p:nvPicPr>
        <p:blipFill>
          <a:blip r:embed="rId2"/>
          <a:stretch>
            <a:fillRect/>
          </a:stretch>
        </p:blipFill>
        <p:spPr>
          <a:xfrm>
            <a:off x="5733288" y="1741726"/>
            <a:ext cx="5708599" cy="3328826"/>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04</a:t>
            </a:r>
            <a:r>
              <a:rPr sz="1000" b="0" i="0">
                <a:solidFill>
                  <a:srgbClr val="535B66"/>
                </a:solidFill>
                <a:latin typeface="Arial"/>
              </a:rPr>
              <a:t>   Student-eye render of the conceptual P4-D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WIREFRAMES   ·   05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3:40 – 4:35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05 — WIREFRAMES</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Fifteen boards make decisions </a:t>
            </a:r>
            <a:r>
              <a:rPr sz="3100" b="0" i="1">
                <a:solidFill>
                  <a:srgbClr val="3346D3"/>
                </a:solidFill>
                <a:latin typeface="Georgia"/>
              </a:rPr>
              <a:t>inspectable</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Requirements, sources and alternatives accompany each board.</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WF03 retains the conflict and compatible alternative.</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The original twelve layouts remain preserved.</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ifteen boards make decisions inspectable - WF03. Complete-kit booking and conflict recovery."/>
          <p:cNvPicPr>
            <a:picLocks noChangeAspect="1"/>
          </p:cNvPicPr>
          <p:nvPr/>
        </p:nvPicPr>
        <p:blipFill>
          <a:blip r:embed="rId2"/>
          <a:stretch>
            <a:fillRect/>
          </a:stretch>
        </p:blipFill>
        <p:spPr>
          <a:xfrm>
            <a:off x="5733288" y="1528311"/>
            <a:ext cx="5708599" cy="3755657"/>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05</a:t>
            </a:r>
            <a:r>
              <a:rPr sz="1000" b="0" i="0">
                <a:solidFill>
                  <a:srgbClr val="535B66"/>
                </a:solidFill>
                <a:latin typeface="Arial"/>
              </a:rPr>
              <a:t>   WF03. Complete-kit booking and conflict recovery.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SPACE   ·   06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4:35 – 5:30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06 — SPACE</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P4-D fits the assumed </a:t>
            </a:r>
            <a:r>
              <a:rPr sz="3100" b="0" i="1">
                <a:solidFill>
                  <a:srgbClr val="3346D3"/>
                </a:solidFill>
                <a:latin typeface="Georgia"/>
              </a:rPr>
              <a:t>seventy square metres</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Seven zones total 70 m².</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A 1.5 m spine preserves circulation in the model.</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The plan, model and labels share canonical geometry.</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4-D fits the assumed seventy square metres - P4-D orientation plan. Assumed 10 × 7 m envelope."/>
          <p:cNvPicPr>
            <a:picLocks noChangeAspect="1"/>
          </p:cNvPicPr>
          <p:nvPr/>
        </p:nvPicPr>
        <p:blipFill>
          <a:blip r:embed="rId2"/>
          <a:stretch>
            <a:fillRect/>
          </a:stretch>
        </p:blipFill>
        <p:spPr>
          <a:xfrm>
            <a:off x="6081799" y="1252728"/>
            <a:ext cx="5011577" cy="4306824"/>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06</a:t>
            </a:r>
            <a:r>
              <a:rPr sz="1000" b="0" i="0">
                <a:solidFill>
                  <a:srgbClr val="535B66"/>
                </a:solidFill>
                <a:latin typeface="Arial"/>
              </a:rPr>
              <a:t>   P4-D orientation plan. Assumed 10 × 7 m envelope.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DASHBOARD   ·   07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5:30 – 6:25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07 — DASHBOARD</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The dashboard shows what its sources </a:t>
            </a:r>
            <a:r>
              <a:rPr sz="3100" b="0" i="1">
                <a:solidFill>
                  <a:srgbClr val="3346D3"/>
                </a:solidFill>
                <a:latin typeface="Georgia"/>
              </a:rPr>
              <a:t>can support</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Availability and occupancy remain separate.</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Missing, stale and disconnected readings remain explicit.</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No connected sensor or composite safety score appears.</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he dashboard shows what its sources can support - Current dashboard. Sensor connections are explicitly zero."/>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07</a:t>
            </a:r>
            <a:r>
              <a:rPr sz="1000" b="0" i="0">
                <a:solidFill>
                  <a:srgbClr val="535B66"/>
                </a:solidFill>
                <a:latin typeface="Arial"/>
              </a:rPr>
              <a:t>   Current dashboard. Sensor connections are explicitly zero.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SUSTAINABILITY   ·   08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6:25 – 7:20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08 — SUSTAINABILITY</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Sustainability proposals carry </a:t>
            </a:r>
            <a:r>
              <a:rPr sz="3100" b="0" i="1">
                <a:solidFill>
                  <a:srgbClr val="3346D3"/>
                </a:solidFill>
                <a:latin typeface="Georgia"/>
              </a:rPr>
              <a:t>assumptions and owners</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Watts, kWh and missing intervals have separate records.</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Standby protects bookings and essential services.</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Five physical specifications cover the assignment.</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ustainability proposals carry assumptions and owners - Ventilation plan layer. Conceptual proposal, no site survey."/>
          <p:cNvPicPr>
            <a:picLocks noChangeAspect="1"/>
          </p:cNvPicPr>
          <p:nvPr/>
        </p:nvPicPr>
        <p:blipFill>
          <a:blip r:embed="rId2"/>
          <a:stretch>
            <a:fillRect/>
          </a:stretch>
        </p:blipFill>
        <p:spPr>
          <a:xfrm>
            <a:off x="6081799" y="1252728"/>
            <a:ext cx="5011577" cy="4306824"/>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08</a:t>
            </a:r>
            <a:r>
              <a:rPr sz="1000" b="0" i="0">
                <a:solidFill>
                  <a:srgbClr val="535B66"/>
                </a:solidFill>
                <a:latin typeface="Arial"/>
              </a:rPr>
              <a:t>   Ventilation plan layer. Conceptual proposal, no site survey.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DEMONSTRATION · E01   ·   09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7:20 – 8:50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09 — DEMONSTRATION · E01</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E01 reveals an </a:t>
            </a:r>
            <a:r>
              <a:rPr sz="3100" b="0" i="1">
                <a:solidFill>
                  <a:srgbClr val="3346D3"/>
                </a:solidFill>
                <a:latin typeface="Georgia"/>
              </a:rPr>
              <a:t>ambiguous sampling choice</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Reference: 2 Hz, 1 V, one second</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3 Hz: four samples fit a signed -1 Hz alias</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20 Hz: twenty-one samples retain the same reference</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01 reveals an ambiguous sampling choice - E01 rehearsal at 3 Hz. Generated teaching fixture, not a measurement."/>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09</a:t>
            </a:r>
            <a:r>
              <a:rPr sz="1000" b="0" i="0">
                <a:solidFill>
                  <a:srgbClr val="535B66"/>
                </a:solidFill>
                <a:latin typeface="Arial"/>
              </a:rPr>
              <a:t>   E01 rehearsal at 3 Hz. Generated teaching fixture, not a measurement.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DEMONSTRATION · E06   ·   10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8:50 – 10:05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10 — DEMONSTRATION · E06</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E06 asks for a </a:t>
            </a:r>
            <a:r>
              <a:rPr sz="3100" b="0" i="1">
                <a:solidFill>
                  <a:srgbClr val="3346D3"/>
                </a:solidFill>
                <a:latin typeface="Georgia"/>
              </a:rPr>
              <a:t>bounded comparison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Two authored lighting conditions remain labelled.</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The view retains the condition and source.</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A student explains difference, uncertainty and next action.</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06 asks for a bounded comparison - E06 authored lighting comparison. Illustration, not detector output."/>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10</a:t>
            </a:r>
            <a:r>
              <a:rPr sz="1000" b="0" i="0">
                <a:solidFill>
                  <a:srgbClr val="535B66"/>
                </a:solidFill>
                <a:latin typeface="Arial"/>
              </a:rPr>
              <a:t>   E06 authored lighting comparison. Illustration, not detector output.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RECOVERY   ·   11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10:05 – 11:35</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11 — RECOVERY</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A repair keeps restrictions </a:t>
            </a:r>
            <a:r>
              <a:rPr sz="3100" b="0" i="1">
                <a:solidFill>
                  <a:srgbClr val="3346D3"/>
                </a:solidFill>
                <a:latin typeface="Georgia"/>
              </a:rPr>
              <a:t>until verification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Report, classify and restrict the affected asset.</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Retain existing student evidence through interruption.</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Verify the complete requirement before restoration.</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A repair keeps restrictions until verification - Fault sandbox, stage 8. Early release is refused."/>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11</a:t>
            </a:r>
            <a:r>
              <a:rPr sz="1000" b="0" i="0">
                <a:solidFill>
                  <a:srgbClr val="535B66"/>
                </a:solidFill>
                <a:latin typeface="Arial"/>
              </a:rPr>
              <a:t>   Fault sandbox, stage 8. Early release is refused.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LOCAL AI   ·   12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11:35 – 12:50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12 — LOCAL AI</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Local Ollama returns a passage </a:t>
            </a:r>
            <a:r>
              <a:rPr sz="3100" b="0" i="1">
                <a:solidFill>
                  <a:srgbClr val="3346D3"/>
                </a:solidFill>
                <a:latin typeface="Georgia"/>
              </a:rPr>
              <a:t>with its revision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llama3.2:3b selects reviewed public-guide sections.</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The server checks publication before and after inference.</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Cancellation and manual reading remain available.</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ocal Ollama returns a passage with its revision - Real local Ollama answer with its guide citation."/>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12</a:t>
            </a:r>
            <a:r>
              <a:rPr sz="1000" b="0" i="0">
                <a:solidFill>
                  <a:srgbClr val="535B66"/>
                </a:solidFill>
                <a:latin typeface="Arial"/>
              </a:rPr>
              <a:t>   Real local Ollama answer with its guide citation.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OPERATIONS   ·   13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12:50 – 13:50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13 — OPERATIONS</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The operations exercise preserves </a:t>
            </a:r>
            <a:r>
              <a:rPr sz="3100" b="0" i="1">
                <a:solidFill>
                  <a:srgbClr val="3346D3"/>
                </a:solidFill>
                <a:latin typeface="Georgia"/>
              </a:rPr>
              <a:t>complete dependencies</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Competing requests serialize in a local repository.</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Retries keep a stable request and allocation identity.</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Offline drafts revalidate before allocation.</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he operations exercise preserves complete dependencies - Independent operations exercise. Local allocation only."/>
          <p:cNvPicPr>
            <a:picLocks noChangeAspect="1"/>
          </p:cNvPicPr>
          <p:nvPr/>
        </p:nvPicPr>
        <p:blipFill>
          <a:blip r:embed="rId2"/>
          <a:stretch>
            <a:fillRect/>
          </a:stretch>
        </p:blipFill>
        <p:spPr>
          <a:xfrm>
            <a:off x="5733288" y="1799609"/>
            <a:ext cx="5708599" cy="3213061"/>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13</a:t>
            </a:r>
            <a:r>
              <a:rPr sz="1000" b="0" i="0">
                <a:solidFill>
                  <a:srgbClr val="535B66"/>
                </a:solidFill>
                <a:latin typeface="Arial"/>
              </a:rPr>
              <a:t>   Independent operations exercise. Local allocation only.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VERIFICATION   ·   14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13:50 – 14:30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14 — VERIFICATION</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The final checks retain the </a:t>
            </a:r>
            <a:r>
              <a:rPr sz="3100" b="0" i="1">
                <a:solidFill>
                  <a:srgbClr val="3346D3"/>
                </a:solidFill>
                <a:latin typeface="Georgia"/>
              </a:rPr>
              <a:t>original behavior</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139 React tests and 16 service tests pass.</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Eight scene remounts retain stable renderer counters.</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Keyboard, narrow layout and exact-text export have fresh evidence.</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he final checks retain the original behavior - Typed equipment lookup at phone width."/>
          <p:cNvPicPr>
            <a:picLocks noChangeAspect="1"/>
          </p:cNvPicPr>
          <p:nvPr/>
        </p:nvPicPr>
        <p:blipFill>
          <a:blip r:embed="rId2"/>
          <a:stretch>
            <a:fillRect/>
          </a:stretch>
        </p:blipFill>
        <p:spPr>
          <a:xfrm>
            <a:off x="7537799" y="1252728"/>
            <a:ext cx="2099576" cy="4306824"/>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14</a:t>
            </a:r>
            <a:r>
              <a:rPr sz="1000" b="0" i="0">
                <a:solidFill>
                  <a:srgbClr val="535B66"/>
                </a:solidFill>
                <a:latin typeface="Arial"/>
              </a:rPr>
              <a:t>   Typed equipment lookup at phone width.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1E9"/>
        </a:solidFill>
        <a:effectLst/>
      </p:bgPr>
    </p:bg>
    <p:spTree>
      <p:nvGrpSpPr>
        <p:cNvPr id="1" name=""/>
        <p:cNvGrpSpPr/>
        <p:nvPr/>
      </p:nvGrpSpPr>
      <p:grpSpPr/>
      <p:sp>
        <p:nvSpPr>
          <p:cNvPr id="2" name="Rectangle 1"/>
          <p:cNvSpPr/>
          <p:nvPr/>
        </p:nvSpPr>
        <p:spPr>
          <a:xfrm>
            <a:off x="640080" y="365760"/>
            <a:ext cx="118872" cy="118872"/>
          </a:xfrm>
          <a:prstGeom prst="rect">
            <a:avLst/>
          </a:prstGeom>
          <a:solidFill>
            <a:srgbClr val="334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329184"/>
            <a:ext cx="3657600" cy="228600"/>
          </a:xfrm>
          <a:prstGeom prst="rect">
            <a:avLst/>
          </a:prstGeom>
          <a:noFill/>
        </p:spPr>
        <p:txBody>
          <a:bodyPr wrap="square" lIns="0" rIns="0" tIns="0" bIns="0" anchor="t">
            <a:spAutoFit/>
          </a:bodyPr>
          <a:lstStyle/>
          <a:p>
            <a:r>
              <a:rPr sz="1050" b="1" i="0" spc="300">
                <a:solidFill>
                  <a:srgbClr val="20232B"/>
                </a:solidFill>
                <a:latin typeface="Arial"/>
              </a:rPr>
              <a:t>PARALLAX</a:t>
            </a:r>
          </a:p>
        </p:txBody>
      </p:sp>
      <p:sp>
        <p:nvSpPr>
          <p:cNvPr id="4" name="TextBox 3"/>
          <p:cNvSpPr txBox="1"/>
          <p:nvPr/>
        </p:nvSpPr>
        <p:spPr>
          <a:xfrm>
            <a:off x="6065215" y="338328"/>
            <a:ext cx="5486400" cy="228600"/>
          </a:xfrm>
          <a:prstGeom prst="rect">
            <a:avLst/>
          </a:prstGeom>
          <a:noFill/>
        </p:spPr>
        <p:txBody>
          <a:bodyPr wrap="square" lIns="0" rIns="0" tIns="0" bIns="0" anchor="t">
            <a:spAutoFit/>
          </a:bodyPr>
          <a:lstStyle/>
          <a:p>
            <a:pPr algn="r"/>
            <a:r>
              <a:rPr sz="900" b="0" i="0" spc="120">
                <a:solidFill>
                  <a:srgbClr val="535B66"/>
                </a:solidFill>
                <a:latin typeface="Consolas"/>
              </a:rPr>
              <a:t>HANDOFF   ·   15 / 15</a:t>
            </a:r>
          </a:p>
        </p:txBody>
      </p:sp>
      <p:cxnSp>
        <p:nvCxnSpPr>
          <p:cNvPr id="5" name="Connector 4"/>
          <p:cNvCxnSpPr/>
          <p:nvPr/>
        </p:nvCxnSpPr>
        <p:spPr>
          <a:xfrm>
            <a:off x="640080" y="658368"/>
            <a:ext cx="10911535" cy="0"/>
          </a:xfrm>
          <a:prstGeom prst="line">
            <a:avLst/>
          </a:prstGeom>
          <a:ln w="9525">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40080" y="6327648"/>
            <a:ext cx="10911535"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400800"/>
            <a:ext cx="6400800" cy="201168"/>
          </a:xfrm>
          <a:prstGeom prst="rect">
            <a:avLst/>
          </a:prstGeom>
          <a:noFill/>
        </p:spPr>
        <p:txBody>
          <a:bodyPr wrap="square" lIns="0" rIns="0" tIns="0" bIns="0" anchor="t">
            <a:spAutoFit/>
          </a:bodyPr>
          <a:lstStyle/>
          <a:p>
            <a:r>
              <a:rPr sz="800" b="0" i="0" spc="100">
                <a:solidFill>
                  <a:srgbClr val="535B66"/>
                </a:solidFill>
                <a:latin typeface="Consolas"/>
              </a:rPr>
              <a:t>SIGNAL &amp; COMPUTER VISION LAB   ·   70 m²   ·   LOCAL PROPOSAL</a:t>
            </a:r>
          </a:p>
        </p:txBody>
      </p:sp>
      <p:sp>
        <p:nvSpPr>
          <p:cNvPr id="8" name="TextBox 7"/>
          <p:cNvSpPr txBox="1"/>
          <p:nvPr/>
        </p:nvSpPr>
        <p:spPr>
          <a:xfrm>
            <a:off x="7894015" y="6400800"/>
            <a:ext cx="3657600" cy="201168"/>
          </a:xfrm>
          <a:prstGeom prst="rect">
            <a:avLst/>
          </a:prstGeom>
          <a:noFill/>
        </p:spPr>
        <p:txBody>
          <a:bodyPr wrap="square" lIns="0" rIns="0" tIns="0" bIns="0" anchor="t">
            <a:spAutoFit/>
          </a:bodyPr>
          <a:lstStyle/>
          <a:p>
            <a:pPr algn="r"/>
            <a:r>
              <a:rPr sz="800" b="0" i="0" spc="100">
                <a:solidFill>
                  <a:srgbClr val="535B66"/>
                </a:solidFill>
                <a:latin typeface="Consolas"/>
              </a:rPr>
              <a:t>14:30 – 15:00</a:t>
            </a:r>
          </a:p>
        </p:txBody>
      </p:sp>
      <p:sp>
        <p:nvSpPr>
          <p:cNvPr id="9" name="TextBox 8"/>
          <p:cNvSpPr txBox="1"/>
          <p:nvPr/>
        </p:nvSpPr>
        <p:spPr>
          <a:xfrm>
            <a:off x="640080" y="1097280"/>
            <a:ext cx="4434840" cy="274320"/>
          </a:xfrm>
          <a:prstGeom prst="rect">
            <a:avLst/>
          </a:prstGeom>
          <a:noFill/>
        </p:spPr>
        <p:txBody>
          <a:bodyPr wrap="square" lIns="0" rIns="0" tIns="0" bIns="0" anchor="t">
            <a:spAutoFit/>
          </a:bodyPr>
          <a:lstStyle/>
          <a:p>
            <a:r>
              <a:rPr sz="1000" b="0" i="0" spc="120">
                <a:solidFill>
                  <a:srgbClr val="3346D3"/>
                </a:solidFill>
                <a:latin typeface="Consolas"/>
              </a:rPr>
              <a:t>15 — HANDOFF</a:t>
            </a:r>
          </a:p>
        </p:txBody>
      </p:sp>
      <p:sp>
        <p:nvSpPr>
          <p:cNvPr id="10" name="TextBox 9"/>
          <p:cNvSpPr txBox="1"/>
          <p:nvPr/>
        </p:nvSpPr>
        <p:spPr>
          <a:xfrm>
            <a:off x="640080" y="1463040"/>
            <a:ext cx="4434840" cy="2011680"/>
          </a:xfrm>
          <a:prstGeom prst="rect">
            <a:avLst/>
          </a:prstGeom>
          <a:noFill/>
        </p:spPr>
        <p:txBody>
          <a:bodyPr wrap="square" lIns="0" rIns="0" tIns="0" bIns="0" anchor="t">
            <a:spAutoFit/>
          </a:bodyPr>
          <a:lstStyle/>
          <a:p>
            <a:pPr>
              <a:lnSpc>
                <a:spcPct val="104000"/>
              </a:lnSpc>
            </a:pPr>
            <a:r>
              <a:rPr sz="3100" b="0" i="0">
                <a:solidFill>
                  <a:srgbClr val="20232B"/>
                </a:solidFill>
                <a:latin typeface="Georgia"/>
              </a:rPr>
              <a:t>One current entry opens </a:t>
            </a:r>
            <a:r>
              <a:rPr sz="3100" b="0" i="1">
                <a:solidFill>
                  <a:srgbClr val="3346D3"/>
                </a:solidFill>
                <a:latin typeface="Georgia"/>
              </a:rPr>
              <a:t>the whole submission</a:t>
            </a:r>
          </a:p>
        </p:txBody>
      </p:sp>
      <p:cxnSp>
        <p:nvCxnSpPr>
          <p:cNvPr id="11" name="Connector 10"/>
          <p:cNvCxnSpPr/>
          <p:nvPr/>
        </p:nvCxnSpPr>
        <p:spPr>
          <a:xfrm>
            <a:off x="640080" y="3611880"/>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730752"/>
            <a:ext cx="457200" cy="274320"/>
          </a:xfrm>
          <a:prstGeom prst="rect">
            <a:avLst/>
          </a:prstGeom>
          <a:noFill/>
        </p:spPr>
        <p:txBody>
          <a:bodyPr wrap="square" lIns="0" rIns="0" tIns="0" bIns="0" anchor="t">
            <a:spAutoFit/>
          </a:bodyPr>
          <a:lstStyle/>
          <a:p>
            <a:r>
              <a:rPr sz="1000" b="0" i="0" spc="80">
                <a:solidFill>
                  <a:srgbClr val="3346D3"/>
                </a:solidFill>
                <a:latin typeface="Consolas"/>
              </a:rPr>
              <a:t>01</a:t>
            </a:r>
          </a:p>
        </p:txBody>
      </p:sp>
      <p:sp>
        <p:nvSpPr>
          <p:cNvPr id="13" name="TextBox 12"/>
          <p:cNvSpPr txBox="1"/>
          <p:nvPr/>
        </p:nvSpPr>
        <p:spPr>
          <a:xfrm>
            <a:off x="1143000" y="3703320"/>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Working app, report, editable deck and source evidence</a:t>
            </a:r>
          </a:p>
        </p:txBody>
      </p:sp>
      <p:cxnSp>
        <p:nvCxnSpPr>
          <p:cNvPr id="14" name="Connector 13"/>
          <p:cNvCxnSpPr/>
          <p:nvPr/>
        </p:nvCxnSpPr>
        <p:spPr>
          <a:xfrm>
            <a:off x="640080" y="4453128"/>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4572000"/>
            <a:ext cx="457200" cy="274320"/>
          </a:xfrm>
          <a:prstGeom prst="rect">
            <a:avLst/>
          </a:prstGeom>
          <a:noFill/>
        </p:spPr>
        <p:txBody>
          <a:bodyPr wrap="square" lIns="0" rIns="0" tIns="0" bIns="0" anchor="t">
            <a:spAutoFit/>
          </a:bodyPr>
          <a:lstStyle/>
          <a:p>
            <a:r>
              <a:rPr sz="1000" b="0" i="0" spc="80">
                <a:solidFill>
                  <a:srgbClr val="3346D3"/>
                </a:solidFill>
                <a:latin typeface="Consolas"/>
              </a:rPr>
              <a:t>02</a:t>
            </a:r>
          </a:p>
        </p:txBody>
      </p:sp>
      <p:sp>
        <p:nvSpPr>
          <p:cNvPr id="16" name="TextBox 15"/>
          <p:cNvSpPr txBox="1"/>
          <p:nvPr/>
        </p:nvSpPr>
        <p:spPr>
          <a:xfrm>
            <a:off x="1143000" y="4544568"/>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Figma designs, Blender model and static demonstration</a:t>
            </a:r>
          </a:p>
        </p:txBody>
      </p:sp>
      <p:cxnSp>
        <p:nvCxnSpPr>
          <p:cNvPr id="17" name="Connector 16"/>
          <p:cNvCxnSpPr/>
          <p:nvPr/>
        </p:nvCxnSpPr>
        <p:spPr>
          <a:xfrm>
            <a:off x="640080" y="5294376"/>
            <a:ext cx="4434840" cy="0"/>
          </a:xfrm>
          <a:prstGeom prst="line">
            <a:avLst/>
          </a:prstGeom>
          <a:ln w="6350">
            <a:solidFill>
              <a:srgbClr val="B9B6AE"/>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413248"/>
            <a:ext cx="457200" cy="274320"/>
          </a:xfrm>
          <a:prstGeom prst="rect">
            <a:avLst/>
          </a:prstGeom>
          <a:noFill/>
        </p:spPr>
        <p:txBody>
          <a:bodyPr wrap="square" lIns="0" rIns="0" tIns="0" bIns="0" anchor="t">
            <a:spAutoFit/>
          </a:bodyPr>
          <a:lstStyle/>
          <a:p>
            <a:r>
              <a:rPr sz="1000" b="0" i="0" spc="80">
                <a:solidFill>
                  <a:srgbClr val="3346D3"/>
                </a:solidFill>
                <a:latin typeface="Consolas"/>
              </a:rPr>
              <a:t>03</a:t>
            </a:r>
          </a:p>
        </p:txBody>
      </p:sp>
      <p:sp>
        <p:nvSpPr>
          <p:cNvPr id="19" name="TextBox 18"/>
          <p:cNvSpPr txBox="1"/>
          <p:nvPr/>
        </p:nvSpPr>
        <p:spPr>
          <a:xfrm>
            <a:off x="1143000" y="5385816"/>
            <a:ext cx="3931920" cy="704088"/>
          </a:xfrm>
          <a:prstGeom prst="rect">
            <a:avLst/>
          </a:prstGeom>
          <a:noFill/>
        </p:spPr>
        <p:txBody>
          <a:bodyPr wrap="square" lIns="0" rIns="0" tIns="0" bIns="0" anchor="t">
            <a:spAutoFit/>
          </a:bodyPr>
          <a:lstStyle/>
          <a:p>
            <a:pPr>
              <a:lnSpc>
                <a:spcPct val="118000"/>
              </a:lnSpc>
            </a:pPr>
            <a:r>
              <a:rPr sz="1500" b="0" i="0">
                <a:solidFill>
                  <a:srgbClr val="20232B"/>
                </a:solidFill>
                <a:latin typeface="Arial"/>
              </a:rPr>
              <a:t>Clear local scope and an explicit external verification list</a:t>
            </a:r>
          </a:p>
        </p:txBody>
      </p:sp>
      <p:sp>
        <p:nvSpPr>
          <p:cNvPr id="20" name="Rectangle 19"/>
          <p:cNvSpPr/>
          <p:nvPr/>
        </p:nvSpPr>
        <p:spPr>
          <a:xfrm>
            <a:off x="5623559" y="1143000"/>
            <a:ext cx="5928055" cy="4526280"/>
          </a:xfrm>
          <a:prstGeom prst="rect">
            <a:avLst/>
          </a:prstGeom>
          <a:solidFill>
            <a:srgbClr val="FBFAF5"/>
          </a:solidFill>
          <a:ln w="6350">
            <a:solidFill>
              <a:srgbClr val="B9B6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One current entry opens the whole submission - The current submission entry."/>
          <p:cNvPicPr>
            <a:picLocks noChangeAspect="1"/>
          </p:cNvPicPr>
          <p:nvPr/>
        </p:nvPicPr>
        <p:blipFill>
          <a:blip r:embed="rId2"/>
          <a:stretch>
            <a:fillRect/>
          </a:stretch>
        </p:blipFill>
        <p:spPr>
          <a:xfrm>
            <a:off x="5733288" y="1292513"/>
            <a:ext cx="5708599" cy="4227253"/>
          </a:xfrm>
          <a:prstGeom prst="rect">
            <a:avLst/>
          </a:prstGeom>
        </p:spPr>
      </p:pic>
      <p:cxnSp>
        <p:nvCxnSpPr>
          <p:cNvPr id="22" name="Connector 21"/>
          <p:cNvCxnSpPr/>
          <p:nvPr/>
        </p:nvCxnSpPr>
        <p:spPr>
          <a:xfrm flipH="1">
            <a:off x="5431536"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623559"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597335" y="114300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551615" y="950976"/>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431536"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23559"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597335" y="5669280"/>
            <a:ext cx="146304" cy="0"/>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51615" y="5715000"/>
            <a:ext cx="0" cy="146304"/>
          </a:xfrm>
          <a:prstGeom prst="line">
            <a:avLst/>
          </a:prstGeom>
          <a:ln w="6350">
            <a:solidFill>
              <a:srgbClr val="20232B"/>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23559" y="5943600"/>
            <a:ext cx="5928055" cy="274320"/>
          </a:xfrm>
          <a:prstGeom prst="rect">
            <a:avLst/>
          </a:prstGeom>
          <a:noFill/>
        </p:spPr>
        <p:txBody>
          <a:bodyPr wrap="square" lIns="0" rIns="0" tIns="0" bIns="0" anchor="t">
            <a:spAutoFit/>
          </a:bodyPr>
          <a:lstStyle/>
          <a:p>
            <a:r>
              <a:rPr sz="900" b="0" i="0" spc="120">
                <a:solidFill>
                  <a:srgbClr val="3346D3"/>
                </a:solidFill>
                <a:latin typeface="Consolas"/>
              </a:rPr>
              <a:t>FIG. 15</a:t>
            </a:r>
            <a:r>
              <a:rPr sz="1000" b="0" i="0">
                <a:solidFill>
                  <a:srgbClr val="535B66"/>
                </a:solidFill>
                <a:latin typeface="Arial"/>
              </a:rPr>
              <a:t>   The current submission entry.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PARALLAX - Signal &amp; Computer Vision Lab</dc:title>
  <dc:subject/>
  <dc:creator>PARALLAX project workspace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